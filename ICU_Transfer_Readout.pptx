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43D59"/>
                </a:solidFill>
              </a:rPr>
              <a:t>Evaluating a Clinical AI Agent for ICU-Transfer Prediction</a:t>
            </a:r>
          </a:p>
          <a:p>
            <a:r>
              <a:rPr sz="1900" b="0">
                <a:solidFill>
                  <a:srgbClr val="444444"/>
                </a:solidFill>
              </a:rPr>
              <a:t>Can a stateless, zero-retention LLM recognize deterioration before the transfer?</a:t>
            </a:r>
          </a:p>
          <a:p>
            <a:r>
              <a:rPr sz="1400" b="0">
                <a:solidFill>
                  <a:srgbClr val="888888"/>
                </a:solidFill>
              </a:rPr>
              <a:t>MIMIC-III demo  •  3 models: local llama3.1:8b vs Claude Sonnet 4.6 / Opus 4.8 (ZDR)  •  Arun Sharma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3D59"/>
                </a:solidFill>
              </a:rPr>
              <a:t>The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430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44444"/>
                </a:solidFill>
              </a:rPr>
              <a:t>A single-turn, three-way decision under strict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444444"/>
                </a:solidFill>
              </a:rPr>
              <a:t>• Retrospective ward cohort from MIMIC-III; synthesize each patient's last 12 hours.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444444"/>
                </a:solidFill>
              </a:rPr>
              <a:t>• Window = 12h ending 1h before the ICU transfer. Nothing at/after the cutoff may appear.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444444"/>
                </a:solidFill>
              </a:rPr>
              <a:t>• One independent, stateless, single-turn call per patient (no history, temperature 0).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444444"/>
                </a:solidFill>
              </a:rPr>
              <a:t>• Model returns exactly one action:</a:t>
            </a:r>
          </a:p>
          <a:p>
            <a:pPr lvl="1">
              <a:spcAft>
                <a:spcPts val="700"/>
              </a:spcAft>
            </a:pPr>
            <a:r>
              <a:rPr sz="1600">
                <a:solidFill>
                  <a:srgbClr val="444444"/>
                </a:solidFill>
              </a:rPr>
              <a:t>– A = continue floor monitoring    B = routine morning labs</a:t>
            </a:r>
          </a:p>
          <a:p>
            <a:pPr lvl="1">
              <a:spcAft>
                <a:spcPts val="700"/>
              </a:spcAft>
            </a:pPr>
            <a:r>
              <a:rPr sz="1600" b="1">
                <a:solidFill>
                  <a:srgbClr val="444444"/>
                </a:solidFill>
              </a:rPr>
              <a:t>– C = escalate to ICU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444444"/>
                </a:solidFill>
              </a:rPr>
              <a:t>• Zero-retention: open-source runs locally (no egress); closed model under zero-data-retention.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3D59"/>
                </a:solidFill>
              </a:rPr>
              <a:t>Method: cohort construction from the 100-patient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430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44444"/>
                </a:solidFill>
              </a:rPr>
              <a:t>The cohort is the most important design choice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444444"/>
                </a:solidFill>
              </a:rPr>
              <a:t>• Target event = a ward -&gt; ICU TRANSFER (eventtype='transfer'), NOT a direct ICU admit.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444444"/>
                </a:solidFill>
              </a:rPr>
              <a:t>• The brief's '100 patients' is the demo database size, used in full. An all-positive set makes accuracy and specificity undefined, so it is balanced:</a:t>
            </a:r>
          </a:p>
          <a:p>
            <a:pPr lvl="1">
              <a:spcAft>
                <a:spcPts val="700"/>
              </a:spcAft>
            </a:pPr>
            <a:r>
              <a:rPr sz="1600">
                <a:solidFill>
                  <a:srgbClr val="444444"/>
                </a:solidFill>
              </a:rPr>
              <a:t>– 100 demo patients -&gt; 55 ward-&gt;ICU transfers -&gt; 41 with usable pre-event signal (14 too-rapid to observe).</a:t>
            </a:r>
          </a:p>
          <a:p>
            <a:pPr lvl="1">
              <a:spcAft>
                <a:spcPts val="700"/>
              </a:spcAft>
            </a:pPr>
            <a:r>
              <a:rPr sz="1600">
                <a:solidFill>
                  <a:srgbClr val="444444"/>
                </a:solidFill>
              </a:rPr>
              <a:t>– Plus 32 matched stable-floor controls (ground truth A).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444444"/>
                </a:solidFill>
              </a:rPr>
              <a:t>• Final cohort: 73 evaluable windows = 41 escalations (C) + 32 controls (A). Temporal integrity asserted: 0 leaks.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3D59"/>
                </a:solidFill>
              </a:rPr>
              <a:t>Does model capability fix the under-triage?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430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44444"/>
                </a:solidFill>
              </a:rPr>
              <a:t>Closed models: mean [range] over 5 seeds; local is deterministic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9164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43D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sensitivity (recall C)</a:t>
                      </a:r>
                    </a:p>
                  </a:txBody>
                  <a:tcPr>
                    <a:solidFill>
                      <a:srgbClr val="143D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specificity (recall A)</a:t>
                      </a:r>
                    </a:p>
                  </a:txBody>
                  <a:tcPr>
                    <a:solidFill>
                      <a:srgbClr val="143D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143D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parse</a:t>
                      </a:r>
                    </a:p>
                  </a:txBody>
                  <a:tcPr>
                    <a:solidFill>
                      <a:srgbClr val="143D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med latency</a:t>
                      </a:r>
                    </a:p>
                  </a:txBody>
                  <a:tcPr>
                    <a:solidFill>
                      <a:srgbClr val="143D5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44444"/>
                          </a:solidFill>
                        </a:rPr>
                        <a:t>llama3.1:8b (local)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B02A2A"/>
                          </a:solidFill>
                        </a:rPr>
                        <a:t>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44444"/>
                          </a:solidFill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44444"/>
                          </a:solidFill>
                        </a:rPr>
                        <a:t>51%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44444"/>
                          </a:solidFill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44444"/>
                          </a:solidFill>
                        </a:rPr>
                        <a:t>1.55s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44444"/>
                          </a:solidFill>
                        </a:rPr>
                        <a:t>Claude Sonnet 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B02A2A"/>
                          </a:solidFill>
                        </a:rPr>
                        <a:t>46% [42%-49%]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44444"/>
                          </a:solidFill>
                        </a:rPr>
                        <a:t>39% [34%-44%]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44444"/>
                          </a:solidFill>
                        </a:rPr>
                        <a:t>43% [38%-47%]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44444"/>
                          </a:solidFill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44444"/>
                          </a:solidFill>
                        </a:rPr>
                        <a:t>2.33s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44444"/>
                          </a:solidFill>
                        </a:rPr>
                        <a:t>Claude Opus 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B02A2A"/>
                          </a:solidFill>
                        </a:rPr>
                        <a:t>18% [17%-20%]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44444"/>
                          </a:solidFill>
                        </a:rPr>
                        <a:t>49% [47%-53%]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44444"/>
                          </a:solidFill>
                        </a:rPr>
                        <a:t>31% [30%-33%]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44444"/>
                          </a:solidFill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44444"/>
                          </a:solidFill>
                        </a:rPr>
                        <a:t>1.94s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977639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444444"/>
                </a:solidFill>
              </a:rPr>
              <a:t>• The weakest model 'wins' accuracy by saying 'continue' most of the time: 12% sensitivity, a dangerous under-triager.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E7D4F"/>
                </a:solidFill>
              </a:rPr>
              <a:t>• Sonnet 4.6 caught 14 deteriorations the local model missed and regressed on 0 (McNemar p=0.0001): the one statistically solid result, paid for in false alarms.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02A2A"/>
                </a:solidFill>
              </a:rPr>
              <a:t>• Opus 4.8 picks 'order labs' (B) 55% of the time. B is unscoreable, so asking for more data tanks its accuracy: the rubric punishes calibrated uncertainty.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444444"/>
                </a:solidFill>
              </a:rPr>
              <a:t>• Headline: the evaluation design, not capability, sets the ranking.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3D59"/>
                </a:solidFill>
              </a:rPr>
              <a:t>Why accuracy is the wrong lens (local model)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430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44444"/>
                </a:solidFill>
              </a:rPr>
              <a:t>llama3.1:8b (local): 51% accuracy, 12% sensitivity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37360"/>
          <a:ext cx="5486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truth \ pred</a:t>
                      </a:r>
                    </a:p>
                  </a:txBody>
                  <a:tcPr>
                    <a:solidFill>
                      <a:srgbClr val="143D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143D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143D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43D5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444444"/>
                          </a:solidFill>
                        </a:rPr>
                        <a:t>A (stay)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444444"/>
                          </a:solidFill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444444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444444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444444"/>
                          </a:solidFill>
                        </a:rPr>
                        <a:t>C (escalate)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444444"/>
                          </a:solidFill>
                        </a:rP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444444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444444"/>
                          </a:solidFill>
                        </a:rPr>
                        <a:t>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383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444444"/>
                </a:solidFill>
              </a:rPr>
              <a:t>• Perfectly specific, but caught only a fraction of true deteriorations: a conservative under-triager.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B02A2A"/>
                </a:solidFill>
              </a:rPr>
              <a:t>• The expensive error in medicine is the MISSED escalation (false A on a true C).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444444"/>
                </a:solidFill>
              </a:rPr>
              <a:t>• A safe-looking aggregate metric conceals an unsafe model. This is an L3 act-and-coordinate task.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3D59"/>
                </a:solidFill>
              </a:rPr>
              <a:t>Showcase 1: septic shock (true 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430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44444"/>
                </a:solidFill>
              </a:rPr>
              <a:t>Patient 10029, HR 128, MAP 52, RR 30, Temp 104F, lactate high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444444"/>
                </a:solidFill>
              </a:rPr>
              <a:t>• All models should escalate this one. What each said:</a:t>
            </a:r>
          </a:p>
          <a:p>
            <a:pPr lvl="1">
              <a:spcAft>
                <a:spcPts val="700"/>
              </a:spcAft>
            </a:pPr>
            <a:r>
              <a:rPr sz="1400" b="1">
                <a:solidFill>
                  <a:srgbClr val="1E7D4F"/>
                </a:solidFill>
              </a:rPr>
              <a:t>– llama3.1:8b (local) -&gt; C: Tachycardia, hypotension, tachypnea, and rising lactate suggest impending instability.</a:t>
            </a:r>
          </a:p>
          <a:p>
            <a:pPr lvl="1">
              <a:spcAft>
                <a:spcPts val="700"/>
              </a:spcAft>
            </a:pPr>
            <a:r>
              <a:rPr sz="1400" b="1">
                <a:solidFill>
                  <a:srgbClr val="1E7D4F"/>
                </a:solidFill>
              </a:rPr>
              <a:t>– Claude Sonnet 4.6 -&gt; C: Septic shock picture: HR 128, MAP 52, RR 30, temp 104, lactate 3.9, AKI (Cr 3.4), leukocyt</a:t>
            </a:r>
          </a:p>
          <a:p>
            <a:pPr lvl="1">
              <a:spcAft>
                <a:spcPts val="700"/>
              </a:spcAft>
            </a:pPr>
            <a:r>
              <a:rPr sz="1400" b="1">
                <a:solidFill>
                  <a:srgbClr val="1E7D4F"/>
                </a:solidFill>
              </a:rPr>
              <a:t>– Claude Opus 4.8 -&gt; C: Septic shock: MAP 52, HR 128, RR 30, fever 104, lactate 3.9, AKI (Cr 3.4), leukocytosis. 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3D59"/>
                </a:solidFill>
              </a:rPr>
              <a:t>Showcase 2: the hard miss (true 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430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44444"/>
                </a:solidFill>
              </a:rPr>
              <a:t>Patient 10120, liver failure, NO charted vitals, lactate 15.1, creatinine 10.7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</a:rPr>
              <a:t>• Lab-only window with catastrophic values. What each said:</a:t>
            </a:r>
          </a:p>
          <a:p>
            <a:pPr lvl="1">
              <a:spcAft>
                <a:spcPts val="700"/>
              </a:spcAft>
            </a:pPr>
            <a:r>
              <a:rPr sz="1300" b="1">
                <a:solidFill>
                  <a:srgbClr val="B02A2A"/>
                </a:solidFill>
              </a:rPr>
              <a:t>– llama3.1:8b (local) -&gt; A: Stable laboratory trend, no acute changes in vital signs; continued monitoring is prudent.</a:t>
            </a:r>
          </a:p>
          <a:p>
            <a:pPr lvl="1">
              <a:spcAft>
                <a:spcPts val="700"/>
              </a:spcAft>
            </a:pPr>
            <a:r>
              <a:rPr sz="1300" b="1">
                <a:solidFill>
                  <a:srgbClr val="1E7D4F"/>
                </a:solidFill>
              </a:rPr>
              <a:t>– Claude Sonnet 4.6 -&gt; C: Lactate 15.1 with high anion gap, glucose 444 rising, severe AKI (Cr 10.7), thrombocytopenia, c</a:t>
            </a:r>
          </a:p>
          <a:p>
            <a:pPr lvl="1">
              <a:spcAft>
                <a:spcPts val="700"/>
              </a:spcAft>
            </a:pPr>
            <a:r>
              <a:rPr sz="1300" b="1">
                <a:solidFill>
                  <a:srgbClr val="1E7D4F"/>
                </a:solidFill>
              </a:rPr>
              <a:t>– Claude Opus 4.8 -&gt; C: Lactate 15 with anion-gap 32 and severe renal failure (Cr 10.7) signals critical metabolic dera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444444"/>
                </a:solidFill>
              </a:rPr>
              <a:t>• The split here is the whole story: scale/capability changes whether absent vitals + critical labs trigger escalation.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3D59"/>
                </a:solidFill>
              </a:rPr>
              <a:t>Temporal handling and dataset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444444"/>
                </a:solidFill>
              </a:rPr>
              <a:t>• Temporal: models used trend words (rising/falling/stable); the weak model over-weighted trend stability over absolute severity.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444444"/>
                </a:solidFill>
              </a:rPr>
              <a:t>• No leakage: windows end 1h pre-transfer, asserted in code; stateless calls see only pre-decision data.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444444"/>
                </a:solidFill>
              </a:rPr>
              <a:t>• MIMIC-III is ICU-centric: vitals are charted mainly in the ICU, so the ward window is LAB-DOMINANT (5/73 had any vital).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444444"/>
                </a:solidFill>
              </a:rPr>
              <a:t>• 'Transferred' is deterministic but a proxy for 'should escalate'; real base rate ~1-5%, far below this balanced set.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444444"/>
                </a:solidFill>
              </a:rPr>
              <a:t>• Contamination risk: MIMIC text may be in pretraining. Single site, n=73, no robustness/uncertainty controls.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3D59"/>
                </a:solidFill>
              </a:rPr>
              <a:t>What I would change, and the real design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444444"/>
                </a:solidFill>
              </a:rPr>
              <a:t>• Report escalation sensitivity at a fixed alarm budget (precision-recall on C), not accuracy.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444444"/>
                </a:solidFill>
              </a:rPr>
              <a:t>• Add an abstain/uncertainty option and calibration (the pillar 96% of medical benchmarks skip).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444444"/>
                </a:solidFill>
              </a:rPr>
              <a:t>• Guideline-augmented prompting (NEWS/qSOFA), the same move as DRL's retrieved reasoning patches.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444444"/>
                </a:solidFill>
              </a:rPr>
              <a:t>• The design question is not 'which is most accurate' but 'which failure mode do you want in production':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</a:rPr>
              <a:t>– the local model's silent under-triage with zero egress, or a closed model's higher sensitivity at the cost of alarms + a retention dependency.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3D59"/>
                </a:solidFill>
              </a:rPr>
              <a:t>Bottom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444444"/>
                </a:solidFill>
              </a:rPr>
              <a:t>• Format adherence was easy; clinical sensitivity was not. The safety gap is the finding.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444444"/>
                </a:solidFill>
              </a:rPr>
              <a:t>• Final-answer accuracy is the wrong lens for an L3 safety task; escalation sensitivity is what matters.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444444"/>
                </a:solidFill>
              </a:rPr>
              <a:t>• A balanced, leakage-guarded, lab-aware cohort is what makes the comparison trustworthy.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444444"/>
                </a:solidFill>
              </a:rPr>
              <a:t>• This mirrors maturity-aware benchmarking: reliability falls as task risk rises, so design the evaluation first.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3D59"/>
                </a:solidFill>
              </a:rPr>
              <a:t>False-positive cost and the alarm 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430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44444"/>
                </a:solidFill>
              </a:rPr>
              <a:t>Escalating a stable patient is costly, so precision matters as much as sensitivity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7772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/>
                <a:gridCol w="1943100"/>
                <a:gridCol w="1943100"/>
                <a:gridCol w="19431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43D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sensitivity (C)</a:t>
                      </a:r>
                    </a:p>
                  </a:txBody>
                  <a:tcPr>
                    <a:solidFill>
                      <a:srgbClr val="143D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false escalations / 32</a:t>
                      </a:r>
                    </a:p>
                  </a:txBody>
                  <a:tcPr>
                    <a:solidFill>
                      <a:srgbClr val="143D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precision on C</a:t>
                      </a:r>
                    </a:p>
                  </a:txBody>
                  <a:tcPr>
                    <a:solidFill>
                      <a:srgbClr val="143D5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44444"/>
                          </a:solidFill>
                        </a:rPr>
                        <a:t>llama3.1:8b (local)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44444"/>
                          </a:solidFill>
                        </a:rPr>
                        <a:t>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44444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44444"/>
                          </a:solidFill>
                        </a:rPr>
                        <a:t>100%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44444"/>
                          </a:solidFill>
                        </a:rPr>
                        <a:t>Claude Sonnet 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44444"/>
                          </a:solidFill>
                        </a:rPr>
                        <a:t>46%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44444"/>
                          </a:solidFill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44444"/>
                          </a:solidFill>
                        </a:rPr>
                        <a:t>59%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44444"/>
                          </a:solidFill>
                        </a:rPr>
                        <a:t>Claude Opus 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44444"/>
                          </a:solidFill>
                        </a:rPr>
                        <a:t>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44444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44444"/>
                          </a:solidFill>
                        </a:rPr>
                        <a:t>78%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12480" y="1645920"/>
          <a:ext cx="32918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822960"/>
                <a:gridCol w="822960"/>
                <a:gridCol w="82296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prevalence</a:t>
                      </a:r>
                    </a:p>
                  </a:txBody>
                  <a:tcPr>
                    <a:solidFill>
                      <a:srgbClr val="143D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caught/1k</a:t>
                      </a:r>
                    </a:p>
                  </a:txBody>
                  <a:tcPr>
                    <a:solidFill>
                      <a:srgbClr val="143D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false/1k</a:t>
                      </a:r>
                    </a:p>
                  </a:txBody>
                  <a:tcPr>
                    <a:solidFill>
                      <a:srgbClr val="143D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PPV</a:t>
                      </a:r>
                    </a:p>
                  </a:txBody>
                  <a:tcPr>
                    <a:solidFill>
                      <a:srgbClr val="143D5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44444"/>
                          </a:solidFill>
                        </a:rPr>
                        <a:t>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44444"/>
                          </a:solidFill>
                        </a:rPr>
                        <a:t>~5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44444"/>
                          </a:solidFill>
                        </a:rPr>
                        <a:t>~604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44444"/>
                          </a:solidFill>
                        </a:rPr>
                        <a:t>0.8%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44444"/>
                          </a:solidFill>
                        </a:rPr>
                        <a:t>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44444"/>
                          </a:solidFill>
                        </a:rPr>
                        <a:t>~14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44444"/>
                          </a:solidFill>
                        </a:rPr>
                        <a:t>~592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44444"/>
                          </a:solidFill>
                        </a:rPr>
                        <a:t>2.3%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44444"/>
                          </a:solidFill>
                        </a:rPr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44444"/>
                          </a:solidFill>
                        </a:rPr>
                        <a:t>~23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44444"/>
                          </a:solidFill>
                        </a:rPr>
                        <a:t>~580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44444"/>
                          </a:solidFill>
                        </a:rPr>
                        <a:t>3.8%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2918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444444"/>
                </a:solidFill>
              </a:rPr>
              <a:t>• No model is in the corner a deployer wants (catch all, alarm none): local never false-alarms but misses 88%; Sonnet catches the most but false-alarms on 41% of controls.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02A2A"/>
                </a:solidFill>
              </a:rPr>
              <a:t>• At a real 1-5% ward prevalence Sonnet's PPV collapses to ~2%: about 592 false alarms to find about 14 real deteriorations at 3%, flagging ~60% of the ward.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444444"/>
                </a:solidFill>
              </a:rPr>
              <a:t>• Specificity, not sensitivity, is the deployment bottleneck. Set the operating point at true prevalence on a fixed alarm budget, before choosing a model.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3D59"/>
                </a:solidFill>
              </a:rPr>
              <a:t>Why this benchmark is free of evaluator bias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430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44444"/>
                </a:solidFill>
              </a:rPr>
              <a:t>Self-preference bias cannot arise when there is no LLM judge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444444"/>
                </a:solidFill>
              </a:rPr>
              <a:t>• Self-preference bias: an LLM-as-judge systematically favors its own (or its family's) generations when scoring.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444444"/>
                </a:solidFill>
              </a:rPr>
              <a:t>• Here it cannot occur: the label is the deterministic ground-truth transfer event, and scoring is rule-based code.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1E7D4F"/>
                </a:solidFill>
              </a:rPr>
              <a:t>• No model grades itself or a sibling; capability differences are measured against objective truth, not a model's opinion.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444444"/>
                </a:solidFill>
              </a:rPr>
              <a:t>• Contamination is a separate, disclosed risk (MIMIC may be in pretraining); self-preference is structurally absent.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444444"/>
                </a:solidFill>
              </a:rPr>
              <a:t>• v2 (if rationales or an abstain option are scored): cross-family jury, blinded prompts, clinician adjudication, deterministic anchors.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